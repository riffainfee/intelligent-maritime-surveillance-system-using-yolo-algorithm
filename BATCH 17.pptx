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Aptos Narrow" panose="020B0004020202020204" pitchFamily="34" charset="0"/>
      <p:regular r:id="rId21"/>
      <p:bold r:id="rId22"/>
      <p:italic r:id="rId23"/>
      <p:boldItalic r:id="rId24"/>
    </p:embeddedFont>
    <p:embeddedFont>
      <p:font typeface="Arial Narrow" panose="020B0606020202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D3315C-5BBF-4F93-85FC-E1C3DE0A209C}">
  <a:tblStyle styleId="{B0D3315C-5BBF-4F93-85FC-E1C3DE0A20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1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9cd15bd2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3d29cd15bd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9cd15bd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d29cd15bd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29cd15bd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d29cd15b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9cd15bd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3d29cd15bd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20CS8504 &amp; PROJECT WORK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 17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30.03.2026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AN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166255" y="50165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4400" b="1" dirty="0">
                <a:latin typeface="Arial Narrow"/>
                <a:ea typeface="Arial Narrow"/>
                <a:cs typeface="Arial Narrow"/>
                <a:sym typeface="Arial Narrow"/>
              </a:rPr>
              <a:t>INTELLIGENT MARITIME SURVEILLANCE SYSTEM USING YOLO ALGORITHM</a:t>
            </a:r>
            <a:endParaRPr sz="4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577419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Ms. SHAHINA SHALU 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Assistant Professor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CSE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811722104081 – LOGA PRIYA 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811722104108 – POOJA P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811722104115 – PRIYADHARSHINI A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811722104123 – RIFFA INFEE R </a:t>
            </a: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endParaRPr lang="en-US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1223159"/>
            <a:ext cx="10515600" cy="495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US" dirty="0"/>
              <a:t> </a:t>
            </a:r>
            <a:r>
              <a:rPr lang="en-US" dirty="0">
                <a:latin typeface="Arial Narrow" panose="020B0606020202030204" pitchFamily="34" charset="0"/>
              </a:rPr>
              <a:t>To develop an AI-based maritime surveillance system that uses YOLO object detection to automatically detect and track vessels like boats and ships in real-time video streams from cameras or recorded footage.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US" dirty="0">
                <a:latin typeface="Arial Narrow" panose="020B0606020202030204" pitchFamily="34" charset="0"/>
              </a:rPr>
              <a:t> Implement zone-based monitoring, where users can define restricted areas on the video, and the system continuously checks whether any detected object enters or exits these zones.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US" dirty="0">
                <a:latin typeface="Arial Narrow" panose="020B0606020202030204" pitchFamily="34" charset="0"/>
              </a:rPr>
              <a:t> Generate instant alerts with visual indicators and sound notifications whenever a violation occurs, helping authorities take quick action and improve maritime safety and security.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0" y="276037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838200" y="1086037"/>
            <a:ext cx="10515600" cy="496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1.</a:t>
            </a:r>
            <a:r>
              <a:rPr lang="en-US" dirty="0">
                <a:latin typeface="Arial Narrow" panose="020B0606020202030204" pitchFamily="34" charset="0"/>
              </a:rPr>
              <a:t> Maritime security is a critical concern due to increasing activities such as illegal fishing, smuggling, and unauthorized vessel movement.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US" dirty="0">
                <a:latin typeface="Arial Narrow" panose="020B0606020202030204" pitchFamily="34" charset="0"/>
              </a:rPr>
              <a:t> Traditional surveillance methods rely heavily on human monitoring, which can be inefficient and prone to errors.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US" dirty="0">
                <a:latin typeface="Arial Narrow" panose="020B0606020202030204" pitchFamily="34" charset="0"/>
              </a:rPr>
              <a:t> With advancements in Artificial Intelligence and Computer Vision, automated monitoring systems have become more effective and reliable.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4.</a:t>
            </a:r>
            <a:r>
              <a:rPr lang="en-US" dirty="0">
                <a:latin typeface="Arial Narrow" panose="020B0606020202030204" pitchFamily="34" charset="0"/>
              </a:rPr>
              <a:t> This project introduces an Intelligent Maritime Surveillance System that uses real-time video analysis to detect and track vessels.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5.</a:t>
            </a:r>
            <a:r>
              <a:rPr lang="en-US" dirty="0">
                <a:latin typeface="Arial Narrow" panose="020B0606020202030204" pitchFamily="34" charset="0"/>
              </a:rPr>
              <a:t> The system enhances security by providing automatic alerts and zone-based monitoring, enabling faster and smarter decision-making.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/>
          <p:cNvGraphicFramePr/>
          <p:nvPr>
            <p:extLst>
              <p:ext uri="{D42A27DB-BD31-4B8C-83A1-F6EECF244321}">
                <p14:modId xmlns:p14="http://schemas.microsoft.com/office/powerpoint/2010/main" val="3635496296"/>
              </p:ext>
            </p:extLst>
          </p:nvPr>
        </p:nvGraphicFramePr>
        <p:xfrm>
          <a:off x="0" y="866311"/>
          <a:ext cx="12192000" cy="5753055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30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Enhanced YOLO-Based Ship Detection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Bi </a:t>
                      </a: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Zhenbo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Improved YOLO model for accurate ship detection in complex conditions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YOLOv5, Deep Learning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YOLO-Based Ship Detection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Redmon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Real-time detection of ships using deep learning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YOLO, CNN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Maritime Surveillance using AI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Zhang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AI system for monitoring vessel activities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AI, Computer Vision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Vessel Detection using Satellite Images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da-DK" sz="2400" dirty="0">
                          <a:latin typeface="Arial Narrow" panose="020B0606020202030204" pitchFamily="34" charset="0"/>
                        </a:rPr>
                        <a:t>Qu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Detects ships from satellite data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YOLO, Remote Sensing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Smart Surveillance using IoT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Ezzeddini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Combines IoT with AI for monitoring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IoT, AI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B46D8C-6760-F35D-CB3F-5004D45B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6898"/>
          </a:xfrm>
        </p:spPr>
        <p:txBody>
          <a:bodyPr>
            <a:noAutofit/>
          </a:bodyPr>
          <a:lstStyle/>
          <a:p>
            <a:pPr algn="ctr"/>
            <a:b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br>
              <a:rPr lang="en-US" sz="4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lang="en-IN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C23E92-5FA8-22AA-9944-7AE69EFA75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BBF7FB-084A-5CA9-E3D4-DD1FF3F8C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2612"/>
              </p:ext>
            </p:extLst>
          </p:nvPr>
        </p:nvGraphicFramePr>
        <p:xfrm>
          <a:off x="0" y="751114"/>
          <a:ext cx="12191999" cy="5920696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3027175">
                  <a:extLst>
                    <a:ext uri="{9D8B030D-6E8A-4147-A177-3AD203B41FA5}">
                      <a16:colId xmlns:a16="http://schemas.microsoft.com/office/drawing/2014/main" val="2135663778"/>
                    </a:ext>
                  </a:extLst>
                </a:gridCol>
                <a:gridCol w="2352347">
                  <a:extLst>
                    <a:ext uri="{9D8B030D-6E8A-4147-A177-3AD203B41FA5}">
                      <a16:colId xmlns:a16="http://schemas.microsoft.com/office/drawing/2014/main" val="3565498333"/>
                    </a:ext>
                  </a:extLst>
                </a:gridCol>
                <a:gridCol w="3702003">
                  <a:extLst>
                    <a:ext uri="{9D8B030D-6E8A-4147-A177-3AD203B41FA5}">
                      <a16:colId xmlns:a16="http://schemas.microsoft.com/office/drawing/2014/main" val="3401184288"/>
                    </a:ext>
                  </a:extLst>
                </a:gridCol>
                <a:gridCol w="3110474">
                  <a:extLst>
                    <a:ext uri="{9D8B030D-6E8A-4147-A177-3AD203B41FA5}">
                      <a16:colId xmlns:a16="http://schemas.microsoft.com/office/drawing/2014/main" val="4028598995"/>
                    </a:ext>
                  </a:extLst>
                </a:gridCol>
              </a:tblGrid>
              <a:tr h="43521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122146909"/>
                  </a:ext>
                </a:extLst>
              </a:tr>
              <a:tr h="7833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Deep Learning for Object Detection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Girshick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Detects ships from satellite data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YOLO, Remote Sensing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389387395"/>
                  </a:ext>
                </a:extLst>
              </a:tr>
              <a:tr h="11315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Faster R-CNN for Object Detection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Ren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Uses region-based CNN for accurate object detection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Faster R-CNN, Deep Learning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878056362"/>
                  </a:ext>
                </a:extLst>
              </a:tr>
              <a:tr h="11315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SSD: Single Shot </a:t>
                      </a:r>
                      <a:r>
                        <a:rPr lang="en-US" sz="2400" dirty="0" err="1">
                          <a:latin typeface="Arial Narrow" panose="020B0606020202030204" pitchFamily="34" charset="0"/>
                        </a:rPr>
                        <a:t>MultiBox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 Detector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Liu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Detects objects in a single pass with high speed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SSD, CNN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916203733"/>
                  </a:ext>
                </a:extLst>
              </a:tr>
              <a:tr h="11315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Deep Learning for Maritime Object Detection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Li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Applies deep learning to detect ships in sea environments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Deep Learning, CNN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155179498"/>
                  </a:ext>
                </a:extLst>
              </a:tr>
              <a:tr h="11315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Video Surveillance using Deep Learning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 err="1">
                          <a:latin typeface="Arial Narrow" panose="020B0606020202030204" pitchFamily="34" charset="0"/>
                        </a:rPr>
                        <a:t>Sultani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 et al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Detects abnormal activities in surveillance videos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Deep Learning, Video Analysis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845650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18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0" y="136525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 ARCHITECTURE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41847-C048-1B33-E726-07C5BAC44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48" y="948774"/>
            <a:ext cx="9415370" cy="54075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IDENTIFI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ED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40229" y="1034142"/>
            <a:ext cx="10787742" cy="4805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1. </a:t>
            </a:r>
            <a:r>
              <a:rPr lang="en-US" sz="2800" dirty="0">
                <a:latin typeface="Arial Narrow" panose="020B0606020202030204" pitchFamily="34" charset="0"/>
              </a:rPr>
              <a:t>Lack of real-time monitoring systems in maritime areas leads to delayed detection of suspicious activities.</a:t>
            </a:r>
            <a:endParaRPr sz="2800" dirty="0">
              <a:latin typeface="Arial Narrow" panose="020B0606020202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US" sz="2800" dirty="0">
                <a:latin typeface="Arial Narrow" panose="020B0606020202030204" pitchFamily="34" charset="0"/>
              </a:rPr>
              <a:t> Heavy dependence on manual surveillance, which is time-consuming and prone to human errors</a:t>
            </a:r>
            <a:endParaRPr sz="2800" dirty="0">
              <a:latin typeface="Arial Narrow" panose="020B0606020202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US" sz="2800" dirty="0">
                <a:latin typeface="Arial Narrow" panose="020B0606020202030204" pitchFamily="34" charset="0"/>
              </a:rPr>
              <a:t> Difficulty in detecting unauthorized entry of vessels into restricted or sensitive zones</a:t>
            </a:r>
            <a:endParaRPr sz="2800" dirty="0">
              <a:latin typeface="Arial Narrow" panose="020B0606020202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4.</a:t>
            </a:r>
            <a:r>
              <a:rPr lang="en-US" sz="2800" dirty="0">
                <a:latin typeface="Arial Narrow" panose="020B0606020202030204" pitchFamily="34" charset="0"/>
              </a:rPr>
              <a:t> Existing systems do not provide instant alerts or automated responses during security violations</a:t>
            </a:r>
            <a:endParaRPr sz="2800" dirty="0">
              <a:latin typeface="Arial Narrow" panose="020B060602020203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5.</a:t>
            </a:r>
            <a:r>
              <a:rPr lang="en-US" sz="2800" dirty="0">
                <a:latin typeface="Arial Narrow" panose="020B0606020202030204" pitchFamily="34" charset="0"/>
              </a:rPr>
              <a:t> Inefficient tracking and monitoring of multiple vessels simultaneously in large maritime regions 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ARCHITECTURE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A0077-7DDE-FE4A-DAB5-8630D159D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874" y="807406"/>
            <a:ext cx="6605339" cy="6050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360941" y="1432321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</a:t>
            </a:r>
            <a:r>
              <a:rPr lang="da-DK" dirty="0">
                <a:latin typeface="Arial Narrow" panose="020B0606020202030204" pitchFamily="34" charset="0"/>
              </a:rPr>
              <a:t>Computer/Laptop (i5, 8GB RAM, SSD)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IN" dirty="0">
                <a:latin typeface="Arial Narrow" panose="020B0606020202030204" pitchFamily="34" charset="0"/>
              </a:rPr>
              <a:t> Camera (Webcam/CCTV/RTSP)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IN" dirty="0">
                <a:latin typeface="Arial Narrow" panose="020B0606020202030204" pitchFamily="34" charset="0"/>
              </a:rPr>
              <a:t> GPU (Optional) &amp; </a:t>
            </a:r>
            <a:r>
              <a:rPr lang="en-IN" dirty="0" err="1">
                <a:latin typeface="Arial Narrow" panose="020B0606020202030204" pitchFamily="34" charset="0"/>
              </a:rPr>
              <a:t>Internt</a:t>
            </a:r>
            <a:endParaRPr lang="en-IN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4"/>
          </p:nvPr>
        </p:nvSpPr>
        <p:spPr>
          <a:xfrm>
            <a:off x="6673161" y="1432321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IN" dirty="0"/>
              <a:t> </a:t>
            </a:r>
            <a:r>
              <a:rPr lang="en-IN" dirty="0">
                <a:latin typeface="Arial Narrow" panose="020B0606020202030204" pitchFamily="34" charset="0"/>
              </a:rPr>
              <a:t>Frontend: HTML, CSS, JavaScript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IN" dirty="0">
                <a:latin typeface="Arial Narrow" panose="020B0606020202030204" pitchFamily="34" charset="0"/>
              </a:rPr>
              <a:t> Backend: Python / Node.js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IN" dirty="0">
                <a:latin typeface="Arial Narrow" panose="020B0606020202030204" pitchFamily="34" charset="0"/>
              </a:rPr>
              <a:t> AI Model: YOLO, OpenCV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0" y="371737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r>
              <a:rPr lang="en-US" sz="32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.</a:t>
            </a:r>
            <a:r>
              <a:rPr lang="en-IN" sz="3200" dirty="0">
                <a:latin typeface="Arial Narrow" panose="020B0606020202030204" pitchFamily="34" charset="0"/>
              </a:rPr>
              <a:t> Camera Input Module</a:t>
            </a:r>
            <a:endParaRPr sz="32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IN" sz="3200" dirty="0">
                <a:latin typeface="Arial Narrow" panose="020B0606020202030204" pitchFamily="34" charset="0"/>
              </a:rPr>
              <a:t> Object Detection Module</a:t>
            </a:r>
            <a:endParaRPr sz="32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IN" sz="3200" dirty="0">
                <a:latin typeface="Arial Narrow" panose="020B0606020202030204" pitchFamily="34" charset="0"/>
              </a:rPr>
              <a:t> Zone Management Module</a:t>
            </a:r>
            <a:endParaRPr sz="32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4.</a:t>
            </a:r>
            <a:r>
              <a:rPr lang="en-IN" sz="3200" dirty="0">
                <a:latin typeface="Arial Narrow" panose="020B0606020202030204" pitchFamily="34" charset="0"/>
              </a:rPr>
              <a:t> Alert &amp; Notification Module</a:t>
            </a:r>
            <a:endParaRPr sz="32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5.</a:t>
            </a:r>
            <a:r>
              <a:rPr lang="en-IN" sz="3200" dirty="0">
                <a:latin typeface="Arial Narrow" panose="020B0606020202030204" pitchFamily="34" charset="0"/>
              </a:rPr>
              <a:t> Dashboard &amp; Monitoring Module</a:t>
            </a:r>
            <a:endParaRPr sz="32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>
            <a:off x="838200" y="566400"/>
            <a:ext cx="10515600" cy="488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IN" sz="3200" b="1" dirty="0">
                <a:latin typeface="Aptos Narrow" panose="020B0004020202020204" pitchFamily="34" charset="0"/>
              </a:rPr>
              <a:t>Camera Input Module :</a:t>
            </a:r>
          </a:p>
          <a:p>
            <a:pPr indent="-457200" algn="just">
              <a:buClr>
                <a:srgbClr val="FF0000"/>
              </a:buClr>
              <a:buSzPts val="2800"/>
            </a:pPr>
            <a:r>
              <a:rPr lang="en-US" dirty="0">
                <a:latin typeface="Aptos Narrow" panose="020B0004020202020204" pitchFamily="34" charset="0"/>
              </a:rPr>
              <a:t>Handles video input from webcam, CCTV, or RTSP streams.</a:t>
            </a:r>
            <a:endParaRPr dirty="0">
              <a:latin typeface="Aptos Narrow" panose="020B000402020202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F13595-832A-B404-D068-91DB528AD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83" y="1923803"/>
            <a:ext cx="8953995" cy="46151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MODULE-2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8200" y="566400"/>
            <a:ext cx="10515600" cy="488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3200" b="1" dirty="0">
                <a:latin typeface="Arial Narrow" panose="020B0606020202030204" pitchFamily="34" charset="0"/>
              </a:rPr>
              <a:t>Object Detection Module :</a:t>
            </a:r>
            <a:endParaRPr lang="en-US" sz="3200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Uses YOLO to detect and track objects like boats and ships in real time.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F5760-4D85-FFAE-E10E-241A77DA2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34" y="1956509"/>
            <a:ext cx="9405257" cy="4582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MODULE-3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838200" y="566400"/>
            <a:ext cx="10515600" cy="488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3200" b="1" dirty="0">
                <a:latin typeface="Arial Narrow" panose="020B0606020202030204" pitchFamily="34" charset="0"/>
              </a:rPr>
              <a:t>Zone Management Module :</a:t>
            </a:r>
            <a:endParaRPr lang="en-US" sz="3200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Allows users to create and manage restricted areas on the video.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8EA1E8-C0EF-8FD9-1414-560FBF261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01" y="1894482"/>
            <a:ext cx="9915896" cy="46444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MODULE-4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838200" y="566400"/>
            <a:ext cx="10515600" cy="488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3200" b="1" dirty="0">
                <a:latin typeface="Aptos Narrow" panose="020B0004020202020204" pitchFamily="34" charset="0"/>
              </a:rPr>
              <a:t>Alert &amp; Notification Module :</a:t>
            </a:r>
            <a:endParaRPr lang="en-US" sz="3200" dirty="0">
              <a:latin typeface="Aptos Narrow" panose="020B0004020202020204" pitchFamily="34" charset="0"/>
            </a:endParaRPr>
          </a:p>
          <a:p>
            <a:r>
              <a:rPr lang="en-US" dirty="0">
                <a:latin typeface="Aptos Narrow" panose="020B0004020202020204" pitchFamily="34" charset="0"/>
              </a:rPr>
              <a:t>Triggers alerts (visual + sound) when objects enter or exit zones.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EFA46-66C5-36D2-D788-E6B8E5E92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26" y="1811086"/>
            <a:ext cx="9642764" cy="45452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MODULE-5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838200" y="439387"/>
            <a:ext cx="10515600" cy="501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3200" b="1" dirty="0">
                <a:latin typeface="Arial Narrow" panose="020B0606020202030204" pitchFamily="34" charset="0"/>
              </a:rPr>
              <a:t>Dashboard &amp; Monitoring Module :</a:t>
            </a:r>
            <a:endParaRPr lang="en-US" sz="3200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Displays live video, detected objects, zones, and alert logs.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793CB0-BCA7-726D-20F8-9D3D0DD05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652" y="1751165"/>
            <a:ext cx="9915896" cy="47471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body" idx="1"/>
          </p:nvPr>
        </p:nvSpPr>
        <p:spPr>
          <a:xfrm>
            <a:off x="1099457" y="13387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3200" dirty="0">
                <a:latin typeface="Arial Narrow" panose="020B0606020202030204" pitchFamily="34" charset="0"/>
              </a:rPr>
              <a:t>The proposed system effectively integrates AI-based object detection (YOLO) with real-time video monitoring to identify and track maritime vessels, along with zone-based analysis to detect unauthorized movements.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3200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 </a:t>
            </a:r>
            <a:r>
              <a:rPr lang="en-US" sz="3200" dirty="0">
                <a:latin typeface="Arial Narrow" panose="020B0606020202030204" pitchFamily="34" charset="0"/>
              </a:rPr>
              <a:t>By generating instant visual and sound alerts and providing a live dashboard, the system improves maritime security, reduces human dependency, and enables faster and more efficient decision-making. </a:t>
            </a:r>
            <a:endParaRPr sz="32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indent="0">
              <a:buSzPts val="2800"/>
              <a:buNone/>
            </a:pPr>
            <a:endParaRPr lang="en-US" sz="3200"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FUTURE ENHANCEMENTS 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1"/>
          </p:nvPr>
        </p:nvSpPr>
        <p:spPr>
          <a:xfrm>
            <a:off x="838200" y="1472540"/>
            <a:ext cx="10515600" cy="470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1.</a:t>
            </a:r>
            <a:r>
              <a:rPr lang="en-US" dirty="0">
                <a:latin typeface="Arial Narrow" panose="020B0606020202030204" pitchFamily="34" charset="0"/>
              </a:rPr>
              <a:t> Integrate advanced AI techniques and IoT devices such as drones, smart sensors, and satellite data to improve detection accuracy, cover larger maritime areas, and enable more intelligent surveillance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US" dirty="0">
                <a:latin typeface="Arial Narrow" panose="020B0606020202030204" pitchFamily="34" charset="0"/>
              </a:rPr>
              <a:t> Extend the system with multi-camera support, cloud integration, and predictive analytics to store and analyze historical data, detect future threats, and provide scalable remote monitoring solutions.</a:t>
            </a:r>
          </a:p>
          <a:p>
            <a:pPr mar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US" dirty="0">
                <a:latin typeface="Arial Narrow" panose="020B0606020202030204" pitchFamily="34" charset="0"/>
              </a:rPr>
              <a:t> Implement facial recognition and vessel identification systems to automatically identify ships, track ownership details, and detect suspicious or blacklisted vessels.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933</Words>
  <Application>Microsoft Office PowerPoint</Application>
  <PresentationFormat>Widescreen</PresentationFormat>
  <Paragraphs>141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Times New Roman</vt:lpstr>
      <vt:lpstr>Arial Narrow</vt:lpstr>
      <vt:lpstr>Aptos Narrow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 LITERATURE SURVEY 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MODULE-1</vt:lpstr>
      <vt:lpstr>MODULE-2</vt:lpstr>
      <vt:lpstr>MODULE-3</vt:lpstr>
      <vt:lpstr>MODULE-4</vt:lpstr>
      <vt:lpstr>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Riffa Infee</cp:lastModifiedBy>
  <cp:revision>3</cp:revision>
  <dcterms:modified xsi:type="dcterms:W3CDTF">2026-03-29T03:40:50Z</dcterms:modified>
</cp:coreProperties>
</file>